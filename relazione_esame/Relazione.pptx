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1" r:id="rId9"/>
    <p:sldId id="262" r:id="rId10"/>
    <p:sldId id="263" r:id="rId11"/>
    <p:sldId id="264"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9" autoAdjust="0"/>
    <p:restoredTop sz="94660"/>
  </p:normalViewPr>
  <p:slideViewPr>
    <p:cSldViewPr snapToGrid="0">
      <p:cViewPr varScale="1">
        <p:scale>
          <a:sx n="126" d="100"/>
          <a:sy n="126" d="100"/>
        </p:scale>
        <p:origin x="55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EAD61CB1-6ADE-42E3-97DC-B256026019F5}" type="datetimeFigureOut">
              <a:rPr lang="it-IT" smtClean="0"/>
              <a:t>19/11/25</a:t>
            </a:fld>
            <a:endParaRPr lang="it-IT"/>
          </a:p>
        </p:txBody>
      </p:sp>
      <p:sp>
        <p:nvSpPr>
          <p:cNvPr id="5" name="Footer Placeholder 4"/>
          <p:cNvSpPr>
            <a:spLocks noGrp="1"/>
          </p:cNvSpPr>
          <p:nvPr>
            <p:ph type="ftr" sz="quarter" idx="11"/>
          </p:nvPr>
        </p:nvSpPr>
        <p:spPr>
          <a:xfrm>
            <a:off x="3962399" y="5870575"/>
            <a:ext cx="4893958" cy="377825"/>
          </a:xfrm>
        </p:spPr>
        <p:txBody>
          <a:bodyPr/>
          <a:lstStyle/>
          <a:p>
            <a:endParaRPr lang="it-IT"/>
          </a:p>
        </p:txBody>
      </p:sp>
      <p:sp>
        <p:nvSpPr>
          <p:cNvPr id="6" name="Slide Number Placeholder 5"/>
          <p:cNvSpPr>
            <a:spLocks noGrp="1"/>
          </p:cNvSpPr>
          <p:nvPr>
            <p:ph type="sldNum" sz="quarter" idx="12"/>
          </p:nvPr>
        </p:nvSpPr>
        <p:spPr>
          <a:xfrm>
            <a:off x="10608958" y="5870575"/>
            <a:ext cx="551167" cy="377825"/>
          </a:xfrm>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29568326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D61CB1-6ADE-42E3-97DC-B256026019F5}" type="datetimeFigureOut">
              <a:rPr lang="it-IT" smtClean="0"/>
              <a:t>19/11/25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1578274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D61CB1-6ADE-42E3-97DC-B256026019F5}" type="datetimeFigureOut">
              <a:rPr lang="it-IT" smtClean="0"/>
              <a:t>19/11/25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1602864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D61CB1-6ADE-42E3-97DC-B256026019F5}" type="datetimeFigureOut">
              <a:rPr lang="it-IT" smtClean="0"/>
              <a:t>19/11/25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2932556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D61CB1-6ADE-42E3-97DC-B256026019F5}" type="datetimeFigureOut">
              <a:rPr lang="it-IT" smtClean="0"/>
              <a:t>19/11/25</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2543129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D61CB1-6ADE-42E3-97DC-B256026019F5}" type="datetimeFigureOut">
              <a:rPr lang="it-IT" smtClean="0"/>
              <a:t>19/11/25</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4086111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EAD61CB1-6ADE-42E3-97DC-B256026019F5}" type="datetimeFigureOut">
              <a:rPr lang="it-IT" smtClean="0"/>
              <a:t>19/11/25</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2079346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D61CB1-6ADE-42E3-97DC-B256026019F5}" type="datetimeFigureOut">
              <a:rPr lang="it-IT" smtClean="0"/>
              <a:t>19/11/25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2105105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D61CB1-6ADE-42E3-97DC-B256026019F5}" type="datetimeFigureOut">
              <a:rPr lang="it-IT" smtClean="0"/>
              <a:t>19/11/25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3368880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D61CB1-6ADE-42E3-97DC-B256026019F5}" type="datetimeFigureOut">
              <a:rPr lang="it-IT" smtClean="0"/>
              <a:t>19/11/25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1237389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D61CB1-6ADE-42E3-97DC-B256026019F5}" type="datetimeFigureOut">
              <a:rPr lang="it-IT" smtClean="0"/>
              <a:t>19/11/25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40444859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D61CB1-6ADE-42E3-97DC-B256026019F5}" type="datetimeFigureOut">
              <a:rPr lang="it-IT" smtClean="0"/>
              <a:t>19/11/25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35044732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D61CB1-6ADE-42E3-97DC-B256026019F5}" type="datetimeFigureOut">
              <a:rPr lang="it-IT" smtClean="0"/>
              <a:t>19/11/25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1561005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D61CB1-6ADE-42E3-97DC-B256026019F5}" type="datetimeFigureOut">
              <a:rPr lang="it-IT" smtClean="0"/>
              <a:t>19/11/25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2964291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D61CB1-6ADE-42E3-97DC-B256026019F5}" type="datetimeFigureOut">
              <a:rPr lang="it-IT" smtClean="0"/>
              <a:t>19/11/25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2402473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D61CB1-6ADE-42E3-97DC-B256026019F5}" type="datetimeFigureOut">
              <a:rPr lang="it-IT" smtClean="0"/>
              <a:t>19/11/25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15E5479-721B-4F96-A09A-8B23F32CAC68}" type="slidenum">
              <a:rPr lang="it-IT" smtClean="0"/>
              <a:t>‹N›</a:t>
            </a:fld>
            <a:endParaRPr lang="it-IT"/>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863606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D61CB1-6ADE-42E3-97DC-B256026019F5}" type="datetimeFigureOut">
              <a:rPr lang="it-IT" smtClean="0"/>
              <a:t>19/11/25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115E5479-721B-4F96-A09A-8B23F32CAC68}" type="slidenum">
              <a:rPr lang="it-IT" smtClean="0"/>
              <a:t>‹N›</a:t>
            </a:fld>
            <a:endParaRPr lang="it-IT"/>
          </a:p>
        </p:txBody>
      </p:sp>
    </p:spTree>
    <p:extLst>
      <p:ext uri="{BB962C8B-B14F-4D97-AF65-F5344CB8AC3E}">
        <p14:creationId xmlns:p14="http://schemas.microsoft.com/office/powerpoint/2010/main" val="3067296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AD61CB1-6ADE-42E3-97DC-B256026019F5}" type="datetimeFigureOut">
              <a:rPr lang="it-IT" smtClean="0"/>
              <a:t>19/11/25</a:t>
            </a:fld>
            <a:endParaRPr lang="it-IT"/>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it-IT"/>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15E5479-721B-4F96-A09A-8B23F32CAC68}" type="slidenum">
              <a:rPr lang="it-IT" smtClean="0"/>
              <a:t>‹N›</a:t>
            </a:fld>
            <a:endParaRPr lang="it-IT"/>
          </a:p>
        </p:txBody>
      </p:sp>
    </p:spTree>
    <p:extLst>
      <p:ext uri="{BB962C8B-B14F-4D97-AF65-F5344CB8AC3E}">
        <p14:creationId xmlns:p14="http://schemas.microsoft.com/office/powerpoint/2010/main" val="58559969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DC895F7-4E59-40FB-87DD-ACE47F94C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68562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lor-coded on electronic circuit board">
            <a:extLst>
              <a:ext uri="{FF2B5EF4-FFF2-40B4-BE49-F238E27FC236}">
                <a16:creationId xmlns:a16="http://schemas.microsoft.com/office/drawing/2014/main" id="{8020589C-4FFD-4CC3-E0EF-B0DDE9C1BF11}"/>
              </a:ext>
            </a:extLst>
          </p:cNvPr>
          <p:cNvPicPr>
            <a:picLocks noChangeAspect="1"/>
          </p:cNvPicPr>
          <p:nvPr/>
        </p:nvPicPr>
        <p:blipFill>
          <a:blip r:embed="rId2">
            <a:alphaModFix amt="35000"/>
          </a:blip>
          <a:srcRect t="4971" b="10123"/>
          <a:stretch>
            <a:fillRect/>
          </a:stretch>
        </p:blipFill>
        <p:spPr>
          <a:xfrm>
            <a:off x="20" y="10"/>
            <a:ext cx="12191980" cy="6857990"/>
          </a:xfrm>
          <a:prstGeom prst="rect">
            <a:avLst/>
          </a:prstGeom>
        </p:spPr>
      </p:pic>
      <p:pic>
        <p:nvPicPr>
          <p:cNvPr id="11" name="Picture 10">
            <a:extLst>
              <a:ext uri="{FF2B5EF4-FFF2-40B4-BE49-F238E27FC236}">
                <a16:creationId xmlns:a16="http://schemas.microsoft.com/office/drawing/2014/main" id="{1A4C720E-710D-44F8-A8D7-2BAA61E1814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51000"/>
            <a:extLst>
              <a:ext uri="{28A0092B-C50C-407E-A947-70E740481C1C}">
                <a14:useLocalDpi xmlns:a14="http://schemas.microsoft.com/office/drawing/2010/main" val="0"/>
              </a:ext>
            </a:extLst>
          </a:blip>
          <a:stretch>
            <a:fillRect/>
          </a:stretch>
        </p:blipFill>
        <p:spPr>
          <a:xfrm>
            <a:off x="1588" y="893"/>
            <a:ext cx="12188825" cy="6856214"/>
          </a:xfrm>
          <a:prstGeom prst="rect">
            <a:avLst/>
          </a:prstGeom>
        </p:spPr>
      </p:pic>
      <p:sp>
        <p:nvSpPr>
          <p:cNvPr id="2" name="Titolo 1">
            <a:extLst>
              <a:ext uri="{FF2B5EF4-FFF2-40B4-BE49-F238E27FC236}">
                <a16:creationId xmlns:a16="http://schemas.microsoft.com/office/drawing/2014/main" id="{351C0CBC-EDB5-E807-5828-7AA16E774169}"/>
              </a:ext>
            </a:extLst>
          </p:cNvPr>
          <p:cNvSpPr>
            <a:spLocks noGrp="1"/>
          </p:cNvSpPr>
          <p:nvPr>
            <p:ph type="ctrTitle"/>
          </p:nvPr>
        </p:nvSpPr>
        <p:spPr>
          <a:xfrm>
            <a:off x="-3175" y="2217375"/>
            <a:ext cx="8053162" cy="2421464"/>
          </a:xfrm>
        </p:spPr>
        <p:txBody>
          <a:bodyPr>
            <a:normAutofit/>
          </a:bodyPr>
          <a:lstStyle/>
          <a:p>
            <a:pPr algn="l"/>
            <a:r>
              <a:rPr lang="it-IT" sz="7200" dirty="0">
                <a:solidFill>
                  <a:srgbClr val="FF0000"/>
                </a:solidFill>
              </a:rPr>
              <a:t>Real Tech</a:t>
            </a:r>
            <a:br>
              <a:rPr lang="it-IT" sz="7200" dirty="0">
                <a:solidFill>
                  <a:srgbClr val="FF0000"/>
                </a:solidFill>
              </a:rPr>
            </a:br>
            <a:r>
              <a:rPr lang="it-IT" sz="2700" dirty="0"/>
              <a:t>Progetto per il corso di Ingegneria del Software</a:t>
            </a:r>
            <a:endParaRPr lang="it-IT" sz="2700" dirty="0">
              <a:solidFill>
                <a:srgbClr val="FF0000"/>
              </a:solidFill>
            </a:endParaRPr>
          </a:p>
        </p:txBody>
      </p:sp>
      <p:sp>
        <p:nvSpPr>
          <p:cNvPr id="3" name="Sottotitolo 2">
            <a:extLst>
              <a:ext uri="{FF2B5EF4-FFF2-40B4-BE49-F238E27FC236}">
                <a16:creationId xmlns:a16="http://schemas.microsoft.com/office/drawing/2014/main" id="{DFDE5866-B0F0-1102-9822-76E800D65D3A}"/>
              </a:ext>
            </a:extLst>
          </p:cNvPr>
          <p:cNvSpPr>
            <a:spLocks noGrp="1"/>
          </p:cNvSpPr>
          <p:nvPr>
            <p:ph type="subTitle" idx="1"/>
          </p:nvPr>
        </p:nvSpPr>
        <p:spPr>
          <a:xfrm>
            <a:off x="9078687" y="4385732"/>
            <a:ext cx="2081438" cy="1557868"/>
          </a:xfrm>
        </p:spPr>
        <p:txBody>
          <a:bodyPr>
            <a:normAutofit fontScale="92500" lnSpcReduction="10000"/>
          </a:bodyPr>
          <a:lstStyle/>
          <a:p>
            <a:pPr algn="l">
              <a:lnSpc>
                <a:spcPct val="90000"/>
              </a:lnSpc>
            </a:pPr>
            <a:r>
              <a:rPr lang="it-IT" sz="1300" dirty="0"/>
              <a:t>Team:</a:t>
            </a:r>
            <a:br>
              <a:rPr lang="it-IT" sz="1300" dirty="0"/>
            </a:br>
            <a:endParaRPr lang="it-IT" sz="1300" dirty="0"/>
          </a:p>
          <a:p>
            <a:pPr algn="l">
              <a:lnSpc>
                <a:spcPct val="90000"/>
              </a:lnSpc>
            </a:pPr>
            <a:r>
              <a:rPr lang="it-IT" sz="1300" b="0" i="0" dirty="0">
                <a:effectLst/>
                <a:latin typeface="Google Sans"/>
              </a:rPr>
              <a:t>ABDOUH OSAMA</a:t>
            </a:r>
          </a:p>
          <a:p>
            <a:pPr algn="l">
              <a:lnSpc>
                <a:spcPct val="90000"/>
              </a:lnSpc>
            </a:pPr>
            <a:r>
              <a:rPr lang="it-IT" sz="1300" dirty="0">
                <a:latin typeface="Google Sans"/>
              </a:rPr>
              <a:t>ALBERTINI RENZO</a:t>
            </a:r>
          </a:p>
          <a:p>
            <a:pPr algn="l">
              <a:lnSpc>
                <a:spcPct val="90000"/>
              </a:lnSpc>
            </a:pPr>
            <a:r>
              <a:rPr lang="it-IT" sz="1300" dirty="0">
                <a:latin typeface="Google Sans"/>
              </a:rPr>
              <a:t>RUSSO PASQUALE</a:t>
            </a:r>
          </a:p>
          <a:p>
            <a:pPr algn="l">
              <a:lnSpc>
                <a:spcPct val="90000"/>
              </a:lnSpc>
            </a:pPr>
            <a:r>
              <a:rPr lang="it-IT" sz="1300" dirty="0">
                <a:latin typeface="Google Sans"/>
              </a:rPr>
              <a:t>WAHEED IMRAN</a:t>
            </a:r>
            <a:endParaRPr lang="it-IT" sz="1300" dirty="0"/>
          </a:p>
        </p:txBody>
      </p:sp>
    </p:spTree>
    <p:extLst>
      <p:ext uri="{BB962C8B-B14F-4D97-AF65-F5344CB8AC3E}">
        <p14:creationId xmlns:p14="http://schemas.microsoft.com/office/powerpoint/2010/main" val="2511859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CAAFAFD-5B19-B1F0-A06B-CC29F20A4938}"/>
              </a:ext>
            </a:extLst>
          </p:cNvPr>
          <p:cNvSpPr>
            <a:spLocks noGrp="1"/>
          </p:cNvSpPr>
          <p:nvPr>
            <p:ph type="title"/>
          </p:nvPr>
        </p:nvSpPr>
        <p:spPr>
          <a:xfrm>
            <a:off x="592495" y="77755"/>
            <a:ext cx="10131425" cy="1456267"/>
          </a:xfrm>
        </p:spPr>
        <p:txBody>
          <a:bodyPr/>
          <a:lstStyle/>
          <a:p>
            <a:r>
              <a:rPr lang="it-IT" dirty="0">
                <a:solidFill>
                  <a:srgbClr val="FF0000"/>
                </a:solidFill>
              </a:rPr>
              <a:t>Oggetto del progetto</a:t>
            </a:r>
          </a:p>
        </p:txBody>
      </p:sp>
      <p:sp>
        <p:nvSpPr>
          <p:cNvPr id="3" name="Segnaposto contenuto 2">
            <a:extLst>
              <a:ext uri="{FF2B5EF4-FFF2-40B4-BE49-F238E27FC236}">
                <a16:creationId xmlns:a16="http://schemas.microsoft.com/office/drawing/2014/main" id="{EF54B110-5416-DBE7-816A-38C9BA4193F6}"/>
              </a:ext>
            </a:extLst>
          </p:cNvPr>
          <p:cNvSpPr>
            <a:spLocks noGrp="1"/>
          </p:cNvSpPr>
          <p:nvPr>
            <p:ph idx="1"/>
          </p:nvPr>
        </p:nvSpPr>
        <p:spPr>
          <a:xfrm>
            <a:off x="592494" y="2098000"/>
            <a:ext cx="10131425" cy="3649133"/>
          </a:xfrm>
        </p:spPr>
        <p:txBody>
          <a:bodyPr>
            <a:noAutofit/>
          </a:bodyPr>
          <a:lstStyle/>
          <a:p>
            <a:pPr marL="0" indent="0">
              <a:buNone/>
            </a:pPr>
            <a:r>
              <a:rPr lang="it-IT" sz="2400" dirty="0"/>
              <a:t>Il progetto consiste nella realizzazione di un sito e-commerce dedicato alla vendita di componenti PC da gaming, sviluppato con Spring Boot per il </a:t>
            </a:r>
            <a:r>
              <a:rPr lang="it-IT" sz="2400" dirty="0" err="1"/>
              <a:t>backend</a:t>
            </a:r>
            <a:r>
              <a:rPr lang="it-IT" sz="2400" dirty="0"/>
              <a:t>, </a:t>
            </a:r>
            <a:r>
              <a:rPr lang="it-IT" sz="2400" dirty="0" err="1"/>
              <a:t>Angular</a:t>
            </a:r>
            <a:r>
              <a:rPr lang="it-IT" sz="2400" dirty="0"/>
              <a:t> per il </a:t>
            </a:r>
            <a:r>
              <a:rPr lang="it-IT" sz="2400" dirty="0" err="1"/>
              <a:t>frontend</a:t>
            </a:r>
            <a:r>
              <a:rPr lang="it-IT" sz="2400" dirty="0"/>
              <a:t> e </a:t>
            </a:r>
            <a:r>
              <a:rPr lang="it-IT" sz="2400" dirty="0" err="1"/>
              <a:t>PostgreSQL</a:t>
            </a:r>
            <a:r>
              <a:rPr lang="it-IT" sz="2400" dirty="0"/>
              <a:t> come database.</a:t>
            </a:r>
            <a:br>
              <a:rPr lang="it-IT" sz="2400" dirty="0"/>
            </a:br>
            <a:r>
              <a:rPr lang="it-IT" sz="2400" dirty="0"/>
              <a:t>L’applicazione consente di visualizzare e filtrare il catalogo prodotti per categoria o marchio, accedere ai dettagli tecnici dei componenti e consultare una vetrina promozionale in homepage.</a:t>
            </a:r>
            <a:br>
              <a:rPr lang="it-IT" sz="2400" dirty="0"/>
            </a:br>
            <a:r>
              <a:rPr lang="it-IT" sz="2400" dirty="0"/>
              <a:t>Gli utenti possono aggiungere articoli al carrello, gestirne le quantità nel carello , inserire l’indirizzo di consegna e simulare il pagamento.</a:t>
            </a:r>
            <a:br>
              <a:rPr lang="it-IT" sz="2400" dirty="0"/>
            </a:br>
            <a:r>
              <a:rPr lang="it-IT" sz="2400" dirty="0"/>
              <a:t>Il sistema permette di verificare lo stato e lo storico degli ordini, oltre a offrire funzionalità come wishlist, suggerimenti personalizzati, coupon sconto e tracking della consegna.</a:t>
            </a:r>
            <a:br>
              <a:rPr lang="it-IT" sz="2400" dirty="0"/>
            </a:br>
            <a:r>
              <a:rPr lang="it-IT" sz="2400" dirty="0"/>
              <a:t>Gli amministratori possono gestire utenti, prodotti, categorie e magazzino, monitorare gli ordini e marcarli come consegnati, garantendo una gestione completa dell’e-commerce.</a:t>
            </a:r>
          </a:p>
        </p:txBody>
      </p:sp>
    </p:spTree>
    <p:extLst>
      <p:ext uri="{BB962C8B-B14F-4D97-AF65-F5344CB8AC3E}">
        <p14:creationId xmlns:p14="http://schemas.microsoft.com/office/powerpoint/2010/main" val="3033078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91715-73BC-9735-AF71-DC425962BF32}"/>
              </a:ext>
            </a:extLst>
          </p:cNvPr>
          <p:cNvSpPr>
            <a:spLocks noGrp="1"/>
          </p:cNvSpPr>
          <p:nvPr>
            <p:ph type="title"/>
          </p:nvPr>
        </p:nvSpPr>
        <p:spPr/>
        <p:txBody>
          <a:bodyPr/>
          <a:lstStyle/>
          <a:p>
            <a:r>
              <a:rPr lang="it-IT" dirty="0">
                <a:solidFill>
                  <a:srgbClr val="FF0000"/>
                </a:solidFill>
              </a:rPr>
              <a:t>GANTT</a:t>
            </a:r>
          </a:p>
        </p:txBody>
      </p:sp>
      <p:pic>
        <p:nvPicPr>
          <p:cNvPr id="5" name="Content Placeholder 4">
            <a:extLst>
              <a:ext uri="{FF2B5EF4-FFF2-40B4-BE49-F238E27FC236}">
                <a16:creationId xmlns:a16="http://schemas.microsoft.com/office/drawing/2014/main" id="{F0E8DC7E-E14B-C01E-1396-1D1AAD3EE552}"/>
              </a:ext>
            </a:extLst>
          </p:cNvPr>
          <p:cNvPicPr>
            <a:picLocks noGrp="1" noChangeAspect="1"/>
          </p:cNvPicPr>
          <p:nvPr>
            <p:ph idx="1"/>
          </p:nvPr>
        </p:nvPicPr>
        <p:blipFill>
          <a:blip r:embed="rId2"/>
          <a:stretch>
            <a:fillRect/>
          </a:stretch>
        </p:blipFill>
        <p:spPr>
          <a:xfrm>
            <a:off x="1296955" y="1748821"/>
            <a:ext cx="8714791" cy="4911097"/>
          </a:xfrm>
          <a:prstGeom prst="rect">
            <a:avLst/>
          </a:prstGeom>
        </p:spPr>
      </p:pic>
    </p:spTree>
    <p:extLst>
      <p:ext uri="{BB962C8B-B14F-4D97-AF65-F5344CB8AC3E}">
        <p14:creationId xmlns:p14="http://schemas.microsoft.com/office/powerpoint/2010/main" val="1816428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35576-0028-994F-E55D-E76722A97C05}"/>
              </a:ext>
            </a:extLst>
          </p:cNvPr>
          <p:cNvSpPr>
            <a:spLocks noGrp="1"/>
          </p:cNvSpPr>
          <p:nvPr>
            <p:ph type="title"/>
          </p:nvPr>
        </p:nvSpPr>
        <p:spPr/>
        <p:txBody>
          <a:bodyPr/>
          <a:lstStyle/>
          <a:p>
            <a:r>
              <a:rPr lang="it-IT" dirty="0">
                <a:solidFill>
                  <a:srgbClr val="FF0000"/>
                </a:solidFill>
              </a:rPr>
              <a:t>Distribuzione del team (ruoli)</a:t>
            </a:r>
          </a:p>
        </p:txBody>
      </p:sp>
      <p:sp>
        <p:nvSpPr>
          <p:cNvPr id="3" name="Content Placeholder 2">
            <a:extLst>
              <a:ext uri="{FF2B5EF4-FFF2-40B4-BE49-F238E27FC236}">
                <a16:creationId xmlns:a16="http://schemas.microsoft.com/office/drawing/2014/main" id="{A6DD4ED0-A2F2-538D-22C4-43C06EB95229}"/>
              </a:ext>
            </a:extLst>
          </p:cNvPr>
          <p:cNvSpPr>
            <a:spLocks noGrp="1"/>
          </p:cNvSpPr>
          <p:nvPr>
            <p:ph idx="1"/>
          </p:nvPr>
        </p:nvSpPr>
        <p:spPr/>
        <p:txBody>
          <a:bodyPr>
            <a:normAutofit/>
          </a:bodyPr>
          <a:lstStyle/>
          <a:p>
            <a:pPr marL="0" indent="0">
              <a:buNone/>
            </a:pPr>
            <a:r>
              <a:rPr lang="it-IT" sz="2000" b="1" dirty="0"/>
              <a:t>Chef (Team Leader): </a:t>
            </a:r>
            <a:r>
              <a:rPr lang="it-IT" sz="2000" dirty="0"/>
              <a:t>Renzo Albertini </a:t>
            </a:r>
            <a:r>
              <a:rPr lang="it-IT" sz="2000" dirty="0">
                <a:sym typeface="Wingdings" panose="05000000000000000000" pitchFamily="2" charset="2"/>
              </a:rPr>
              <a:t> </a:t>
            </a:r>
            <a:r>
              <a:rPr lang="en-GB" sz="2000" dirty="0">
                <a:sym typeface="Wingdings" panose="05000000000000000000" pitchFamily="2" charset="2"/>
              </a:rPr>
              <a:t>Ha coordinato</a:t>
            </a:r>
            <a:r>
              <a:rPr lang="it-IT" sz="2000" dirty="0"/>
              <a:t> la preparazione e la distribuzione dei compiti e ha aiutato nella risoluzione di problemi.</a:t>
            </a:r>
          </a:p>
          <a:p>
            <a:pPr marL="0" indent="0">
              <a:buNone/>
            </a:pPr>
            <a:r>
              <a:rPr lang="it-IT" sz="2000" b="1" dirty="0" err="1"/>
              <a:t>Sous</a:t>
            </a:r>
            <a:r>
              <a:rPr lang="it-IT" sz="2000" b="1" dirty="0"/>
              <a:t> Chef (</a:t>
            </a:r>
            <a:r>
              <a:rPr lang="it-IT" sz="2000" b="1" dirty="0" err="1"/>
              <a:t>Frontend</a:t>
            </a:r>
            <a:r>
              <a:rPr lang="it-IT" sz="2000" b="1" dirty="0"/>
              <a:t> Developer): </a:t>
            </a:r>
            <a:r>
              <a:rPr lang="it-IT" sz="2000" dirty="0"/>
              <a:t>Imran Waheed </a:t>
            </a:r>
            <a:r>
              <a:rPr lang="it-IT" sz="2000" dirty="0">
                <a:sym typeface="Wingdings" panose="05000000000000000000" pitchFamily="2" charset="2"/>
              </a:rPr>
              <a:t> Si è occupato della gestione del frontend, collaborando con gli altri membri del team</a:t>
            </a:r>
            <a:endParaRPr lang="it-IT" sz="2000" dirty="0"/>
          </a:p>
          <a:p>
            <a:pPr marL="0" indent="0">
              <a:buNone/>
            </a:pPr>
            <a:r>
              <a:rPr lang="it-IT" sz="2000" b="1" dirty="0"/>
              <a:t>Gastronomo (Backend Developer): </a:t>
            </a:r>
            <a:r>
              <a:rPr lang="it-IT" sz="2000" dirty="0"/>
              <a:t>Osama </a:t>
            </a:r>
            <a:r>
              <a:rPr lang="it-IT" sz="2000" dirty="0">
                <a:latin typeface="Google Sans"/>
              </a:rPr>
              <a:t>Abdouh</a:t>
            </a:r>
            <a:r>
              <a:rPr lang="it-IT" sz="2000" dirty="0">
                <a:sym typeface="Wingdings" panose="05000000000000000000" pitchFamily="2" charset="2"/>
              </a:rPr>
              <a:t>  Si è occupato della gestione del backend, collaborando con gli altri membri del team</a:t>
            </a:r>
            <a:endParaRPr lang="it-IT" sz="2000" dirty="0">
              <a:latin typeface="Google Sans"/>
            </a:endParaRPr>
          </a:p>
          <a:p>
            <a:pPr marL="0" indent="0">
              <a:buNone/>
            </a:pPr>
            <a:r>
              <a:rPr lang="it-IT" sz="2000" b="1" dirty="0"/>
              <a:t>Critico del gusto (Tester): </a:t>
            </a:r>
            <a:r>
              <a:rPr lang="it-IT" sz="2000" dirty="0"/>
              <a:t>Pasquale Russo</a:t>
            </a:r>
            <a:r>
              <a:rPr lang="it-IT" sz="2000" dirty="0">
                <a:sym typeface="Wingdings" panose="05000000000000000000" pitchFamily="2" charset="2"/>
              </a:rPr>
              <a:t>  si è occupato di individuare e risolvere i problemi controllare le funzionalità e collaborare con il Gastronomo e il Sous Chef nella realizzazione del progetto</a:t>
            </a:r>
            <a:endParaRPr lang="it-IT" sz="2000" dirty="0"/>
          </a:p>
        </p:txBody>
      </p:sp>
    </p:spTree>
    <p:extLst>
      <p:ext uri="{BB962C8B-B14F-4D97-AF65-F5344CB8AC3E}">
        <p14:creationId xmlns:p14="http://schemas.microsoft.com/office/powerpoint/2010/main" val="3954330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BA3EF-5601-334F-0887-40DBA629F609}"/>
              </a:ext>
            </a:extLst>
          </p:cNvPr>
          <p:cNvSpPr>
            <a:spLocks noGrp="1"/>
          </p:cNvSpPr>
          <p:nvPr>
            <p:ph type="title"/>
          </p:nvPr>
        </p:nvSpPr>
        <p:spPr>
          <a:xfrm>
            <a:off x="1327255" y="1030288"/>
            <a:ext cx="4099947" cy="1035579"/>
          </a:xfrm>
        </p:spPr>
        <p:txBody>
          <a:bodyPr>
            <a:normAutofit/>
          </a:bodyPr>
          <a:lstStyle/>
          <a:p>
            <a:pPr>
              <a:lnSpc>
                <a:spcPct val="90000"/>
              </a:lnSpc>
            </a:pPr>
            <a:r>
              <a:rPr lang="it-IT" sz="3300"/>
              <a:t>Screenshot di Trello</a:t>
            </a:r>
          </a:p>
        </p:txBody>
      </p:sp>
      <p:pic>
        <p:nvPicPr>
          <p:cNvPr id="7" name="Picture 6">
            <a:extLst>
              <a:ext uri="{FF2B5EF4-FFF2-40B4-BE49-F238E27FC236}">
                <a16:creationId xmlns:a16="http://schemas.microsoft.com/office/drawing/2014/main" id="{FF722C27-0DF6-BCB6-6774-160D46520604}"/>
              </a:ext>
            </a:extLst>
          </p:cNvPr>
          <p:cNvPicPr>
            <a:picLocks noChangeAspect="1"/>
          </p:cNvPicPr>
          <p:nvPr/>
        </p:nvPicPr>
        <p:blipFill>
          <a:blip r:embed="rId3"/>
          <a:stretch>
            <a:fillRect/>
          </a:stretch>
        </p:blipFill>
        <p:spPr>
          <a:xfrm>
            <a:off x="4762092" y="217218"/>
            <a:ext cx="6305385" cy="3263037"/>
          </a:xfrm>
          <a:prstGeom prst="roundRect">
            <a:avLst>
              <a:gd name="adj" fmla="val 6267"/>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pic>
        <p:nvPicPr>
          <p:cNvPr id="5" name="Content Placeholder 4" descr="A screenshot of a computer&#10;&#10;AI-generated content may be incorrect.">
            <a:extLst>
              <a:ext uri="{FF2B5EF4-FFF2-40B4-BE49-F238E27FC236}">
                <a16:creationId xmlns:a16="http://schemas.microsoft.com/office/drawing/2014/main" id="{CE2E0C01-C2AA-A610-9527-A29FFE9F35A2}"/>
              </a:ext>
            </a:extLst>
          </p:cNvPr>
          <p:cNvPicPr>
            <a:picLocks noChangeAspect="1"/>
          </p:cNvPicPr>
          <p:nvPr/>
        </p:nvPicPr>
        <p:blipFill>
          <a:blip r:embed="rId4"/>
          <a:stretch>
            <a:fillRect/>
          </a:stretch>
        </p:blipFill>
        <p:spPr>
          <a:xfrm>
            <a:off x="4762092" y="3548627"/>
            <a:ext cx="7233114" cy="3092155"/>
          </a:xfrm>
          <a:prstGeom prst="roundRect">
            <a:avLst>
              <a:gd name="adj" fmla="val 6267"/>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887706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A166780-9337-4437-95D3-5EA9D55AAA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B3D0F40-BF1F-4120-945D-90C5AAD6E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4654296" cy="6856214"/>
          </a:xfrm>
          <a:prstGeom prst="rect">
            <a:avLst/>
          </a:prstGeom>
          <a:blipFill dpi="0" rotWithShape="1">
            <a:blip r:embed="rId2"/>
            <a:srcRect/>
            <a:tile tx="0" ty="0" sx="100000" sy="100000" flip="none" algn="tl"/>
          </a:blipFill>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15640A69-3748-450C-8DDB-B2051AC04BC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893"/>
          <a:stretch/>
        </p:blipFill>
        <p:spPr>
          <a:xfrm>
            <a:off x="0" y="0"/>
            <a:ext cx="4644770" cy="6856214"/>
          </a:xfrm>
          <a:prstGeom prst="rect">
            <a:avLst/>
          </a:prstGeom>
        </p:spPr>
      </p:pic>
      <p:sp>
        <p:nvSpPr>
          <p:cNvPr id="2" name="Title 1">
            <a:extLst>
              <a:ext uri="{FF2B5EF4-FFF2-40B4-BE49-F238E27FC236}">
                <a16:creationId xmlns:a16="http://schemas.microsoft.com/office/drawing/2014/main" id="{3AE65610-8460-2660-A3B9-B8D65DD70655}"/>
              </a:ext>
            </a:extLst>
          </p:cNvPr>
          <p:cNvSpPr>
            <a:spLocks noGrp="1"/>
          </p:cNvSpPr>
          <p:nvPr>
            <p:ph type="title"/>
          </p:nvPr>
        </p:nvSpPr>
        <p:spPr>
          <a:xfrm>
            <a:off x="685801" y="643466"/>
            <a:ext cx="3351530" cy="4995333"/>
          </a:xfrm>
        </p:spPr>
        <p:txBody>
          <a:bodyPr>
            <a:normAutofit/>
          </a:bodyPr>
          <a:lstStyle/>
          <a:p>
            <a:r>
              <a:rPr lang="it-IT">
                <a:solidFill>
                  <a:srgbClr val="FFFFFF"/>
                </a:solidFill>
              </a:rPr>
              <a:t>Test cases (esempio)</a:t>
            </a:r>
          </a:p>
        </p:txBody>
      </p:sp>
      <p:sp useBgFill="1">
        <p:nvSpPr>
          <p:cNvPr id="18" name="Rectangle 17">
            <a:extLst>
              <a:ext uri="{FF2B5EF4-FFF2-40B4-BE49-F238E27FC236}">
                <a16:creationId xmlns:a16="http://schemas.microsoft.com/office/drawing/2014/main" id="{66F4F323-644B-4A47-97E9-BFB73840F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1120" y="-2"/>
            <a:ext cx="7537705" cy="68562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6">
            <a:extLst>
              <a:ext uri="{FF2B5EF4-FFF2-40B4-BE49-F238E27FC236}">
                <a16:creationId xmlns:a16="http://schemas.microsoft.com/office/drawing/2014/main" id="{CC3D42C1-28B4-19DD-9A14-AB0950ED501F}"/>
              </a:ext>
            </a:extLst>
          </p:cNvPr>
          <p:cNvGraphicFramePr>
            <a:graphicFrameLocks noGrp="1"/>
          </p:cNvGraphicFramePr>
          <p:nvPr>
            <p:ph idx="1"/>
            <p:extLst>
              <p:ext uri="{D42A27DB-BD31-4B8C-83A1-F6EECF244321}">
                <p14:modId xmlns:p14="http://schemas.microsoft.com/office/powerpoint/2010/main" val="404511679"/>
              </p:ext>
            </p:extLst>
          </p:nvPr>
        </p:nvGraphicFramePr>
        <p:xfrm>
          <a:off x="5497418" y="1051550"/>
          <a:ext cx="6008781" cy="4753112"/>
        </p:xfrm>
        <a:graphic>
          <a:graphicData uri="http://schemas.openxmlformats.org/drawingml/2006/table">
            <a:tbl>
              <a:tblPr/>
              <a:tblGrid>
                <a:gridCol w="1348688">
                  <a:extLst>
                    <a:ext uri="{9D8B030D-6E8A-4147-A177-3AD203B41FA5}">
                      <a16:colId xmlns:a16="http://schemas.microsoft.com/office/drawing/2014/main" val="2741085833"/>
                    </a:ext>
                  </a:extLst>
                </a:gridCol>
                <a:gridCol w="4660093">
                  <a:extLst>
                    <a:ext uri="{9D8B030D-6E8A-4147-A177-3AD203B41FA5}">
                      <a16:colId xmlns:a16="http://schemas.microsoft.com/office/drawing/2014/main" val="244322207"/>
                    </a:ext>
                  </a:extLst>
                </a:gridCol>
              </a:tblGrid>
              <a:tr h="235604">
                <a:tc>
                  <a:txBody>
                    <a:bodyPr/>
                    <a:lstStyle/>
                    <a:p>
                      <a:pPr algn="l" rtl="0" fontAlgn="b">
                        <a:buNone/>
                      </a:pPr>
                      <a:r>
                        <a:rPr lang="it-IT" sz="900" b="0" i="0" u="none" strike="noStrike" dirty="0">
                          <a:solidFill>
                            <a:srgbClr val="FF0000"/>
                          </a:solidFill>
                          <a:effectLst/>
                          <a:latin typeface="Arial" panose="020B0604020202020204" pitchFamily="34" charset="0"/>
                        </a:rPr>
                        <a:t>Funzione</a:t>
                      </a:r>
                      <a:endParaRPr lang="it-IT" sz="900" b="0" i="0" u="none" strike="noStrike" dirty="0">
                        <a:effectLst/>
                        <a:latin typeface="Arial" panose="020B0604020202020204" pitchFamily="34" charset="0"/>
                      </a:endParaRP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it-IT" sz="900" b="0" i="0" u="none" strike="noStrike" dirty="0">
                          <a:solidFill>
                            <a:srgbClr val="FF0000"/>
                          </a:solidFill>
                          <a:effectLst/>
                          <a:latin typeface="Arial" panose="020B0604020202020204" pitchFamily="34" charset="0"/>
                        </a:rPr>
                        <a:t>Login Utente</a:t>
                      </a:r>
                      <a:endParaRPr lang="it-IT" sz="900" b="0" i="0" u="none" strike="noStrike" dirty="0">
                        <a:effectLst/>
                        <a:latin typeface="Arial" panose="020B0604020202020204" pitchFamily="34" charset="0"/>
                      </a:endParaRPr>
                    </a:p>
                  </a:txBody>
                  <a:tcPr marL="47647" marR="47647" marT="23824" marB="238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8099537"/>
                  </a:ext>
                </a:extLst>
              </a:tr>
              <a:tr h="288718">
                <a:tc>
                  <a:txBody>
                    <a:bodyPr/>
                    <a:lstStyle/>
                    <a:p>
                      <a:pPr algn="l" rtl="0" fontAlgn="b">
                        <a:buNone/>
                      </a:pPr>
                      <a:r>
                        <a:rPr lang="it-IT" sz="900" b="0" i="0" u="none" strike="noStrike" dirty="0">
                          <a:solidFill>
                            <a:srgbClr val="FF0000"/>
                          </a:solidFill>
                          <a:effectLst/>
                          <a:latin typeface="Arial" panose="020B0604020202020204" pitchFamily="34" charset="0"/>
                        </a:rPr>
                        <a:t>Requisito</a:t>
                      </a:r>
                      <a:endParaRPr lang="it-IT" sz="900" b="0" i="0" u="none" strike="noStrike" dirty="0">
                        <a:effectLst/>
                        <a:latin typeface="Arial" panose="020B0604020202020204" pitchFamily="34" charset="0"/>
                      </a:endParaRP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buNone/>
                      </a:pPr>
                      <a:r>
                        <a:rPr lang="it-IT" sz="900" b="0" i="0" u="none" strike="noStrike" dirty="0">
                          <a:solidFill>
                            <a:srgbClr val="FF0000"/>
                          </a:solidFill>
                          <a:effectLst/>
                          <a:latin typeface="Arial" panose="020B0604020202020204" pitchFamily="34" charset="0"/>
                        </a:rPr>
                        <a:t> L'utente deve poter accedere utilizzando un'email e una password valide.</a:t>
                      </a:r>
                      <a:endParaRPr lang="it-IT" sz="900" b="0" i="0" u="none" strike="noStrike" dirty="0">
                        <a:effectLst/>
                        <a:latin typeface="Arial" panose="020B0604020202020204" pitchFamily="34" charset="0"/>
                      </a:endParaRPr>
                    </a:p>
                  </a:txBody>
                  <a:tcPr marL="4963" marR="4963"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8252742"/>
                  </a:ext>
                </a:extLst>
              </a:tr>
              <a:tr h="235604">
                <a:tc>
                  <a:txBody>
                    <a:bodyPr/>
                    <a:lstStyle/>
                    <a:p>
                      <a:pPr algn="l" rtl="0" fontAlgn="b">
                        <a:buNone/>
                      </a:pPr>
                      <a:r>
                        <a:rPr lang="it-IT" sz="900" b="0" i="0" u="none" strike="noStrike" dirty="0">
                          <a:effectLst/>
                          <a:latin typeface="Arial" panose="020B0604020202020204" pitchFamily="34" charset="0"/>
                        </a:rPr>
                        <a:t>Step 1</a:t>
                      </a: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buNone/>
                      </a:pPr>
                      <a:r>
                        <a:rPr lang="it-IT" sz="900" b="0" i="0" u="none" strike="noStrike" dirty="0">
                          <a:effectLst/>
                          <a:latin typeface="Arial" panose="020B0604020202020204" pitchFamily="34" charset="0"/>
                        </a:rPr>
                        <a:t>L'utente arriva nella pagina di login per accedere</a:t>
                      </a:r>
                    </a:p>
                  </a:txBody>
                  <a:tcPr marL="47647" marR="47647" marT="23824" marB="238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9059104"/>
                  </a:ext>
                </a:extLst>
              </a:tr>
              <a:tr h="235604">
                <a:tc>
                  <a:txBody>
                    <a:bodyPr/>
                    <a:lstStyle/>
                    <a:p>
                      <a:pPr algn="l" rtl="0" fontAlgn="b">
                        <a:buNone/>
                      </a:pPr>
                      <a:r>
                        <a:rPr lang="it-IT" sz="900" b="0" i="0" u="none" strike="noStrike">
                          <a:effectLst/>
                          <a:latin typeface="Arial" panose="020B0604020202020204" pitchFamily="34" charset="0"/>
                        </a:rPr>
                        <a:t>Step 2</a:t>
                      </a: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buNone/>
                      </a:pPr>
                      <a:r>
                        <a:rPr lang="it-IT" sz="900" b="0" i="0" u="none" strike="noStrike" dirty="0">
                          <a:effectLst/>
                          <a:latin typeface="Arial" panose="020B0604020202020204" pitchFamily="34" charset="0"/>
                        </a:rPr>
                        <a:t>L'utente inserisce le credenziali e prova ad accedere</a:t>
                      </a:r>
                    </a:p>
                  </a:txBody>
                  <a:tcPr marL="47647" marR="47647" marT="23824" marB="238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7434577"/>
                  </a:ext>
                </a:extLst>
              </a:tr>
              <a:tr h="235604">
                <a:tc>
                  <a:txBody>
                    <a:bodyPr/>
                    <a:lstStyle/>
                    <a:p>
                      <a:pPr algn="l" rtl="0" fontAlgn="b">
                        <a:buNone/>
                      </a:pPr>
                      <a:r>
                        <a:rPr lang="it-IT" sz="900" b="0" i="0" u="none" strike="noStrike" dirty="0">
                          <a:effectLst/>
                          <a:latin typeface="Arial" panose="020B0604020202020204" pitchFamily="34" charset="0"/>
                        </a:rPr>
                        <a:t>Step 3</a:t>
                      </a: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buNone/>
                      </a:pPr>
                      <a:r>
                        <a:rPr lang="it-IT" sz="900" b="0" i="0" u="none" strike="noStrike" dirty="0">
                          <a:effectLst/>
                          <a:latin typeface="Arial" panose="020B0604020202020204" pitchFamily="34" charset="0"/>
                        </a:rPr>
                        <a:t>Il sistema controlla che le credenziali esistano e se sono valide</a:t>
                      </a:r>
                    </a:p>
                  </a:txBody>
                  <a:tcPr marL="47647" marR="47647" marT="23824" marB="238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5960990"/>
                  </a:ext>
                </a:extLst>
              </a:tr>
              <a:tr h="96440">
                <a:tc gridSpan="2">
                  <a:txBody>
                    <a:bodyPr/>
                    <a:lstStyle/>
                    <a:p>
                      <a:pPr algn="l" fontAlgn="b">
                        <a:buNone/>
                      </a:pPr>
                      <a:endParaRPr lang="en-US" sz="900" b="0" i="0" u="none" strike="noStrike" dirty="0">
                        <a:effectLst/>
                        <a:latin typeface="Arial" panose="020B0604020202020204" pitchFamily="34" charset="0"/>
                      </a:endParaRP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buNone/>
                      </a:pPr>
                      <a:endParaRPr lang="en-US" sz="900" b="0" i="0" u="none" strike="noStrike" dirty="0">
                        <a:effectLst/>
                        <a:latin typeface="Arial" panose="020B0604020202020204" pitchFamily="34" charset="0"/>
                      </a:endParaRPr>
                    </a:p>
                  </a:txBody>
                  <a:tcPr marL="11912" marR="11912" marT="7941" marB="7941"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503375475"/>
                  </a:ext>
                </a:extLst>
              </a:tr>
              <a:tr h="235604">
                <a:tc>
                  <a:txBody>
                    <a:bodyPr/>
                    <a:lstStyle/>
                    <a:p>
                      <a:pPr algn="l" rtl="0" fontAlgn="b">
                        <a:buNone/>
                      </a:pPr>
                      <a:r>
                        <a:rPr lang="it-IT" sz="900" b="0" i="0" u="none" strike="noStrike" dirty="0">
                          <a:solidFill>
                            <a:srgbClr val="0000FF"/>
                          </a:solidFill>
                          <a:effectLst/>
                          <a:latin typeface="Arial" panose="020B0604020202020204" pitchFamily="34" charset="0"/>
                        </a:rPr>
                        <a:t>Caso 1</a:t>
                      </a:r>
                      <a:endParaRPr lang="it-IT" sz="900" b="0" i="0" u="none" strike="noStrike" dirty="0">
                        <a:effectLst/>
                        <a:latin typeface="Arial" panose="020B0604020202020204" pitchFamily="34" charset="0"/>
                      </a:endParaRP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it-IT" sz="900" b="0" i="0" u="none" strike="noStrike" dirty="0">
                          <a:solidFill>
                            <a:srgbClr val="0000FF"/>
                          </a:solidFill>
                          <a:effectLst/>
                          <a:latin typeface="Arial" panose="020B0604020202020204" pitchFamily="34" charset="0"/>
                        </a:rPr>
                        <a:t>Credenziali trovate nel </a:t>
                      </a:r>
                      <a:r>
                        <a:rPr lang="it-IT" sz="900" b="0" i="0" u="none" strike="noStrike" dirty="0" err="1">
                          <a:solidFill>
                            <a:srgbClr val="0000FF"/>
                          </a:solidFill>
                          <a:effectLst/>
                          <a:latin typeface="Arial" panose="020B0604020202020204" pitchFamily="34" charset="0"/>
                        </a:rPr>
                        <a:t>db</a:t>
                      </a:r>
                      <a:endParaRPr lang="it-IT" sz="900" b="0" i="0" u="none" strike="noStrike" dirty="0">
                        <a:effectLst/>
                        <a:latin typeface="Arial" panose="020B0604020202020204" pitchFamily="34" charset="0"/>
                      </a:endParaRPr>
                    </a:p>
                  </a:txBody>
                  <a:tcPr marL="47647" marR="47647" marT="23824" marB="238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4323334"/>
                  </a:ext>
                </a:extLst>
              </a:tr>
              <a:tr h="235604">
                <a:tc>
                  <a:txBody>
                    <a:bodyPr/>
                    <a:lstStyle/>
                    <a:p>
                      <a:pPr algn="l" rtl="0" fontAlgn="b">
                        <a:buNone/>
                      </a:pPr>
                      <a:r>
                        <a:rPr lang="it-IT" sz="900" b="0" i="0" u="none" strike="noStrike">
                          <a:effectLst/>
                          <a:latin typeface="Arial" panose="020B0604020202020204" pitchFamily="34" charset="0"/>
                        </a:rPr>
                        <a:t>Step 1</a:t>
                      </a: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buNone/>
                      </a:pPr>
                      <a:r>
                        <a:rPr lang="it-IT" sz="900" b="0" i="0" u="none" strike="noStrike" dirty="0">
                          <a:effectLst/>
                          <a:latin typeface="Arial" panose="020B0604020202020204" pitchFamily="34" charset="0"/>
                        </a:rPr>
                        <a:t>Trasforma in </a:t>
                      </a:r>
                      <a:r>
                        <a:rPr lang="it-IT" sz="900" b="0" i="0" u="none" strike="noStrike" dirty="0" err="1">
                          <a:effectLst/>
                          <a:latin typeface="Arial" panose="020B0604020202020204" pitchFamily="34" charset="0"/>
                        </a:rPr>
                        <a:t>Hash</a:t>
                      </a:r>
                      <a:r>
                        <a:rPr lang="it-IT" sz="900" b="0" i="0" u="none" strike="noStrike" dirty="0">
                          <a:effectLst/>
                          <a:latin typeface="Arial" panose="020B0604020202020204" pitchFamily="34" charset="0"/>
                        </a:rPr>
                        <a:t> la password fornita durante il login</a:t>
                      </a:r>
                    </a:p>
                  </a:txBody>
                  <a:tcPr marL="47647" marR="47647" marT="23824" marB="238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0545186"/>
                  </a:ext>
                </a:extLst>
              </a:tr>
              <a:tr h="235604">
                <a:tc>
                  <a:txBody>
                    <a:bodyPr/>
                    <a:lstStyle/>
                    <a:p>
                      <a:pPr algn="l" rtl="0" fontAlgn="b">
                        <a:buNone/>
                      </a:pPr>
                      <a:r>
                        <a:rPr lang="it-IT" sz="900" b="0" i="0" u="none" strike="noStrike" dirty="0">
                          <a:effectLst/>
                          <a:latin typeface="Arial" panose="020B0604020202020204" pitchFamily="34" charset="0"/>
                        </a:rPr>
                        <a:t>Step 2</a:t>
                      </a: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buNone/>
                      </a:pPr>
                      <a:r>
                        <a:rPr lang="it-IT" sz="900" b="0" i="0" u="none" strike="noStrike" dirty="0">
                          <a:effectLst/>
                          <a:latin typeface="Arial" panose="020B0604020202020204" pitchFamily="34" charset="0"/>
                        </a:rPr>
                        <a:t>Verifica se l’</a:t>
                      </a:r>
                      <a:r>
                        <a:rPr lang="it-IT" sz="900" b="0" i="0" u="none" strike="noStrike" dirty="0" err="1">
                          <a:effectLst/>
                          <a:latin typeface="Arial" panose="020B0604020202020204" pitchFamily="34" charset="0"/>
                        </a:rPr>
                        <a:t>Hash</a:t>
                      </a:r>
                      <a:r>
                        <a:rPr lang="it-IT" sz="900" b="0" i="0" u="none" strike="noStrike" dirty="0">
                          <a:effectLst/>
                          <a:latin typeface="Arial" panose="020B0604020202020204" pitchFamily="34" charset="0"/>
                        </a:rPr>
                        <a:t> sia uguale a quello salvato nel </a:t>
                      </a:r>
                      <a:r>
                        <a:rPr lang="it-IT" sz="900" b="0" i="0" u="none" strike="noStrike" dirty="0" err="1">
                          <a:effectLst/>
                          <a:latin typeface="Arial" panose="020B0604020202020204" pitchFamily="34" charset="0"/>
                        </a:rPr>
                        <a:t>db</a:t>
                      </a:r>
                      <a:endParaRPr lang="it-IT" sz="900" b="0" i="0" u="none" strike="noStrike" dirty="0">
                        <a:effectLst/>
                        <a:latin typeface="Arial" panose="020B0604020202020204" pitchFamily="34" charset="0"/>
                      </a:endParaRPr>
                    </a:p>
                  </a:txBody>
                  <a:tcPr marL="47647" marR="47647" marT="23824" marB="238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979603"/>
                  </a:ext>
                </a:extLst>
              </a:tr>
              <a:tr h="90026">
                <a:tc gridSpan="2">
                  <a:txBody>
                    <a:bodyPr/>
                    <a:lstStyle/>
                    <a:p>
                      <a:pPr algn="l" fontAlgn="b">
                        <a:buNone/>
                      </a:pPr>
                      <a:endParaRPr lang="en-US" sz="900" b="0" i="0" u="none" strike="noStrike" dirty="0">
                        <a:effectLst/>
                        <a:latin typeface="Arial" panose="020B0604020202020204" pitchFamily="34" charset="0"/>
                      </a:endParaRP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buNone/>
                      </a:pPr>
                      <a:endParaRPr lang="en-US" sz="900" b="0" i="0" u="none" strike="noStrike" dirty="0">
                        <a:effectLst/>
                        <a:latin typeface="Arial" panose="020B0604020202020204" pitchFamily="34" charset="0"/>
                      </a:endParaRPr>
                    </a:p>
                  </a:txBody>
                  <a:tcPr marL="11912" marR="11912" marT="7941" marB="7941"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406962333"/>
                  </a:ext>
                </a:extLst>
              </a:tr>
              <a:tr h="235604">
                <a:tc>
                  <a:txBody>
                    <a:bodyPr/>
                    <a:lstStyle/>
                    <a:p>
                      <a:pPr algn="l" rtl="0" fontAlgn="b">
                        <a:buNone/>
                      </a:pPr>
                      <a:r>
                        <a:rPr lang="it-IT" sz="900" b="0" i="0" u="none" strike="noStrike">
                          <a:solidFill>
                            <a:srgbClr val="FF00FF"/>
                          </a:solidFill>
                          <a:effectLst/>
                          <a:latin typeface="Arial" panose="020B0604020202020204" pitchFamily="34" charset="0"/>
                        </a:rPr>
                        <a:t>Sotto Caso1</a:t>
                      </a:r>
                      <a:endParaRPr lang="it-IT" sz="900" b="0" i="0" u="none" strike="noStrike">
                        <a:effectLst/>
                        <a:latin typeface="Arial" panose="020B0604020202020204" pitchFamily="34" charset="0"/>
                      </a:endParaRP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it-IT" sz="900" b="0" i="0" u="none" strike="noStrike" dirty="0" err="1">
                          <a:solidFill>
                            <a:srgbClr val="FF00FF"/>
                          </a:solidFill>
                          <a:effectLst/>
                          <a:latin typeface="Arial" panose="020B0604020202020204" pitchFamily="34" charset="0"/>
                        </a:rPr>
                        <a:t>Hash</a:t>
                      </a:r>
                      <a:r>
                        <a:rPr lang="it-IT" sz="900" b="0" i="0" u="none" strike="noStrike" dirty="0">
                          <a:solidFill>
                            <a:srgbClr val="FF00FF"/>
                          </a:solidFill>
                          <a:effectLst/>
                          <a:latin typeface="Arial" panose="020B0604020202020204" pitchFamily="34" charset="0"/>
                        </a:rPr>
                        <a:t> uguale </a:t>
                      </a:r>
                      <a:endParaRPr lang="it-IT" sz="900" b="0" i="0" u="none" strike="noStrike" dirty="0">
                        <a:effectLst/>
                        <a:latin typeface="Arial" panose="020B0604020202020204" pitchFamily="34" charset="0"/>
                      </a:endParaRPr>
                    </a:p>
                  </a:txBody>
                  <a:tcPr marL="47647" marR="47647" marT="23824" marB="238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5399316"/>
                  </a:ext>
                </a:extLst>
              </a:tr>
              <a:tr h="235604">
                <a:tc>
                  <a:txBody>
                    <a:bodyPr/>
                    <a:lstStyle/>
                    <a:p>
                      <a:pPr algn="l" rtl="0" fontAlgn="b">
                        <a:buNone/>
                      </a:pPr>
                      <a:r>
                        <a:rPr lang="it-IT" sz="900" b="0" i="0" u="none" strike="noStrike">
                          <a:effectLst/>
                          <a:latin typeface="Arial" panose="020B0604020202020204" pitchFamily="34" charset="0"/>
                        </a:rPr>
                        <a:t>Step 1</a:t>
                      </a: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buNone/>
                      </a:pPr>
                      <a:r>
                        <a:rPr lang="it-IT" sz="900" b="0" i="0" u="none" strike="noStrike" dirty="0">
                          <a:effectLst/>
                          <a:latin typeface="Arial" panose="020B0604020202020204" pitchFamily="34" charset="0"/>
                        </a:rPr>
                        <a:t>L'utente riesce a loggare e ha tutti i privilegi in base al tipo d’utente</a:t>
                      </a:r>
                    </a:p>
                  </a:txBody>
                  <a:tcPr marL="47647" marR="47647" marT="23824" marB="238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3564357"/>
                  </a:ext>
                </a:extLst>
              </a:tr>
              <a:tr h="235604">
                <a:tc>
                  <a:txBody>
                    <a:bodyPr/>
                    <a:lstStyle/>
                    <a:p>
                      <a:pPr algn="l" rtl="0" fontAlgn="b">
                        <a:buNone/>
                      </a:pPr>
                      <a:r>
                        <a:rPr lang="it-IT" sz="900" b="0" i="0" u="none" strike="noStrike">
                          <a:solidFill>
                            <a:srgbClr val="FF00FF"/>
                          </a:solidFill>
                          <a:effectLst/>
                          <a:latin typeface="Arial" panose="020B0604020202020204" pitchFamily="34" charset="0"/>
                        </a:rPr>
                        <a:t>Sotto Caso2</a:t>
                      </a:r>
                      <a:endParaRPr lang="it-IT" sz="900" b="0" i="0" u="none" strike="noStrike">
                        <a:effectLst/>
                        <a:latin typeface="Arial" panose="020B0604020202020204" pitchFamily="34" charset="0"/>
                      </a:endParaRP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it-IT" sz="900" b="0" i="0" u="none" strike="noStrike" dirty="0" err="1">
                          <a:solidFill>
                            <a:srgbClr val="FF00FF"/>
                          </a:solidFill>
                          <a:effectLst/>
                          <a:latin typeface="Arial" panose="020B0604020202020204" pitchFamily="34" charset="0"/>
                        </a:rPr>
                        <a:t>Hash</a:t>
                      </a:r>
                      <a:r>
                        <a:rPr lang="it-IT" sz="900" b="0" i="0" u="none" strike="noStrike" dirty="0">
                          <a:solidFill>
                            <a:srgbClr val="FF00FF"/>
                          </a:solidFill>
                          <a:effectLst/>
                          <a:latin typeface="Arial" panose="020B0604020202020204" pitchFamily="34" charset="0"/>
                        </a:rPr>
                        <a:t> diverso </a:t>
                      </a:r>
                      <a:endParaRPr lang="it-IT" sz="900" b="0" i="0" u="none" strike="noStrike" dirty="0">
                        <a:effectLst/>
                        <a:latin typeface="Arial" panose="020B0604020202020204" pitchFamily="34" charset="0"/>
                      </a:endParaRPr>
                    </a:p>
                  </a:txBody>
                  <a:tcPr marL="47647" marR="47647" marT="23824" marB="238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9383439"/>
                  </a:ext>
                </a:extLst>
              </a:tr>
              <a:tr h="235604">
                <a:tc>
                  <a:txBody>
                    <a:bodyPr/>
                    <a:lstStyle/>
                    <a:p>
                      <a:pPr algn="l" rtl="0" fontAlgn="b">
                        <a:buNone/>
                      </a:pPr>
                      <a:r>
                        <a:rPr lang="it-IT" sz="900" b="0" i="0" u="none" strike="noStrike">
                          <a:effectLst/>
                          <a:latin typeface="Arial" panose="020B0604020202020204" pitchFamily="34" charset="0"/>
                        </a:rPr>
                        <a:t>Step 1</a:t>
                      </a: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buNone/>
                      </a:pPr>
                      <a:r>
                        <a:rPr lang="it-IT" sz="900" b="0" i="0" u="none" strike="noStrike" dirty="0">
                          <a:effectLst/>
                          <a:latin typeface="Arial" panose="020B0604020202020204" pitchFamily="34" charset="0"/>
                        </a:rPr>
                        <a:t>Nega l'accesso</a:t>
                      </a:r>
                    </a:p>
                  </a:txBody>
                  <a:tcPr marL="47647" marR="47647" marT="23824" marB="238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8085754"/>
                  </a:ext>
                </a:extLst>
              </a:tr>
              <a:tr h="235604">
                <a:tc>
                  <a:txBody>
                    <a:bodyPr/>
                    <a:lstStyle/>
                    <a:p>
                      <a:pPr algn="l" rtl="0" fontAlgn="b">
                        <a:buNone/>
                      </a:pPr>
                      <a:r>
                        <a:rPr lang="it-IT" sz="900" b="0" i="0" u="none" strike="noStrike">
                          <a:effectLst/>
                          <a:latin typeface="Arial" panose="020B0604020202020204" pitchFamily="34" charset="0"/>
                        </a:rPr>
                        <a:t>Step 2</a:t>
                      </a: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buNone/>
                      </a:pPr>
                      <a:r>
                        <a:rPr lang="it-IT" sz="900" b="0" i="0" u="none" strike="noStrike" dirty="0">
                          <a:effectLst/>
                          <a:latin typeface="Arial" panose="020B0604020202020204" pitchFamily="34" charset="0"/>
                        </a:rPr>
                        <a:t>Permette all’utente di riprovare a fare il login</a:t>
                      </a:r>
                    </a:p>
                  </a:txBody>
                  <a:tcPr marL="47647" marR="47647" marT="23824" marB="238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8482808"/>
                  </a:ext>
                </a:extLst>
              </a:tr>
              <a:tr h="100084">
                <a:tc gridSpan="2">
                  <a:txBody>
                    <a:bodyPr/>
                    <a:lstStyle/>
                    <a:p>
                      <a:pPr algn="l" fontAlgn="b">
                        <a:buNone/>
                      </a:pPr>
                      <a:endParaRPr lang="en-US" sz="900" b="0" i="0" u="none" strike="noStrike" dirty="0">
                        <a:effectLst/>
                        <a:latin typeface="Arial" panose="020B0604020202020204" pitchFamily="34" charset="0"/>
                      </a:endParaRP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b">
                        <a:buNone/>
                      </a:pPr>
                      <a:endParaRPr lang="en-US" sz="900" b="0" i="0" u="none" strike="noStrike" dirty="0">
                        <a:effectLst/>
                        <a:latin typeface="Arial" panose="020B0604020202020204" pitchFamily="34" charset="0"/>
                      </a:endParaRPr>
                    </a:p>
                  </a:txBody>
                  <a:tcPr marL="11912" marR="11912" marT="7941" marB="7941"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03643185"/>
                  </a:ext>
                </a:extLst>
              </a:tr>
              <a:tr h="235604">
                <a:tc>
                  <a:txBody>
                    <a:bodyPr/>
                    <a:lstStyle/>
                    <a:p>
                      <a:pPr algn="l" rtl="0" fontAlgn="b">
                        <a:buNone/>
                      </a:pPr>
                      <a:r>
                        <a:rPr lang="it-IT" sz="900" b="0" i="0" u="none" strike="noStrike" dirty="0">
                          <a:solidFill>
                            <a:srgbClr val="0000FF"/>
                          </a:solidFill>
                          <a:effectLst/>
                          <a:latin typeface="Arial" panose="020B0604020202020204" pitchFamily="34" charset="0"/>
                        </a:rPr>
                        <a:t>Caso 2</a:t>
                      </a:r>
                      <a:endParaRPr lang="it-IT" sz="900" b="0" i="0" u="none" strike="noStrike" dirty="0">
                        <a:effectLst/>
                        <a:latin typeface="Arial" panose="020B0604020202020204" pitchFamily="34" charset="0"/>
                      </a:endParaRP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it-IT" sz="900" b="0" i="0" u="none" strike="noStrike" dirty="0">
                          <a:solidFill>
                            <a:srgbClr val="0000FF"/>
                          </a:solidFill>
                          <a:effectLst/>
                          <a:latin typeface="Arial" panose="020B0604020202020204" pitchFamily="34" charset="0"/>
                        </a:rPr>
                        <a:t>Credenziali non trovate nel </a:t>
                      </a:r>
                      <a:r>
                        <a:rPr lang="it-IT" sz="900" b="0" i="0" u="none" strike="noStrike" dirty="0" err="1">
                          <a:solidFill>
                            <a:srgbClr val="0000FF"/>
                          </a:solidFill>
                          <a:effectLst/>
                          <a:latin typeface="Arial" panose="020B0604020202020204" pitchFamily="34" charset="0"/>
                        </a:rPr>
                        <a:t>db</a:t>
                      </a:r>
                      <a:endParaRPr lang="it-IT" sz="900" b="0" i="0" u="none" strike="noStrike" dirty="0">
                        <a:effectLst/>
                        <a:latin typeface="Arial" panose="020B0604020202020204" pitchFamily="34" charset="0"/>
                      </a:endParaRPr>
                    </a:p>
                  </a:txBody>
                  <a:tcPr marL="47647" marR="47647" marT="23824" marB="238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893630"/>
                  </a:ext>
                </a:extLst>
              </a:tr>
              <a:tr h="235604">
                <a:tc>
                  <a:txBody>
                    <a:bodyPr/>
                    <a:lstStyle/>
                    <a:p>
                      <a:pPr algn="l" rtl="0" fontAlgn="b">
                        <a:buNone/>
                      </a:pPr>
                      <a:r>
                        <a:rPr lang="it-IT" sz="900" b="0" i="0" u="none" strike="noStrike">
                          <a:effectLst/>
                          <a:latin typeface="Arial" panose="020B0604020202020204" pitchFamily="34" charset="0"/>
                        </a:rPr>
                        <a:t>Step 1</a:t>
                      </a: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buNone/>
                      </a:pPr>
                      <a:r>
                        <a:rPr lang="it-IT" sz="900" b="0" i="0" u="none" strike="noStrike" dirty="0">
                          <a:effectLst/>
                          <a:latin typeface="Arial" panose="020B0604020202020204" pitchFamily="34" charset="0"/>
                        </a:rPr>
                        <a:t>L'utente non è registrato </a:t>
                      </a:r>
                    </a:p>
                  </a:txBody>
                  <a:tcPr marL="47647" marR="47647" marT="23824" marB="238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4881189"/>
                  </a:ext>
                </a:extLst>
              </a:tr>
              <a:tr h="235604">
                <a:tc>
                  <a:txBody>
                    <a:bodyPr/>
                    <a:lstStyle/>
                    <a:p>
                      <a:pPr algn="l" rtl="0" fontAlgn="b">
                        <a:buNone/>
                      </a:pPr>
                      <a:r>
                        <a:rPr lang="it-IT" sz="900" b="0" i="0" u="none" strike="noStrike">
                          <a:effectLst/>
                          <a:latin typeface="Arial" panose="020B0604020202020204" pitchFamily="34" charset="0"/>
                        </a:rPr>
                        <a:t>Step 2</a:t>
                      </a: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buNone/>
                      </a:pPr>
                      <a:r>
                        <a:rPr lang="it-IT" sz="900" b="0" i="0" u="none" strike="noStrike" dirty="0">
                          <a:effectLst/>
                          <a:latin typeface="Arial" panose="020B0604020202020204" pitchFamily="34" charset="0"/>
                        </a:rPr>
                        <a:t>Possibilità di registrarsi</a:t>
                      </a:r>
                    </a:p>
                  </a:txBody>
                  <a:tcPr marL="47647" marR="47647" marT="23824" marB="238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3027315"/>
                  </a:ext>
                </a:extLst>
              </a:tr>
              <a:tr h="235604">
                <a:tc>
                  <a:txBody>
                    <a:bodyPr/>
                    <a:lstStyle/>
                    <a:p>
                      <a:pPr algn="l" rtl="0" fontAlgn="b">
                        <a:buNone/>
                      </a:pPr>
                      <a:r>
                        <a:rPr lang="it-IT" sz="900" b="0" i="0" u="none" strike="noStrike">
                          <a:effectLst/>
                          <a:latin typeface="Arial" panose="020B0604020202020204" pitchFamily="34" charset="0"/>
                        </a:rPr>
                        <a:t>Step 3</a:t>
                      </a: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buNone/>
                      </a:pPr>
                      <a:r>
                        <a:rPr lang="it-IT" sz="900" b="0" i="0" u="none" strike="noStrike" dirty="0">
                          <a:effectLst/>
                          <a:latin typeface="Arial" panose="020B0604020202020204" pitchFamily="34" charset="0"/>
                        </a:rPr>
                        <a:t>L'utente inserisce tutti i dati richiesti per la registrazione </a:t>
                      </a:r>
                    </a:p>
                  </a:txBody>
                  <a:tcPr marL="47647" marR="47647" marT="23824" marB="238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1543579"/>
                  </a:ext>
                </a:extLst>
              </a:tr>
              <a:tr h="235604">
                <a:tc>
                  <a:txBody>
                    <a:bodyPr/>
                    <a:lstStyle/>
                    <a:p>
                      <a:pPr algn="l" rtl="0" fontAlgn="b">
                        <a:buNone/>
                      </a:pPr>
                      <a:r>
                        <a:rPr lang="it-IT" sz="900" b="0" i="0" u="none" strike="noStrike">
                          <a:effectLst/>
                          <a:latin typeface="Arial" panose="020B0604020202020204" pitchFamily="34" charset="0"/>
                        </a:rPr>
                        <a:t>Step 4</a:t>
                      </a:r>
                    </a:p>
                  </a:txBody>
                  <a:tcPr marL="11912" marR="11912" marT="7941" marB="79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buNone/>
                      </a:pPr>
                      <a:r>
                        <a:rPr lang="it-IT" sz="900" b="0" i="0" u="none" strike="noStrike" dirty="0">
                          <a:effectLst/>
                          <a:latin typeface="Arial" panose="020B0604020202020204" pitchFamily="34" charset="0"/>
                        </a:rPr>
                        <a:t>Una volta registrato, l'utente puo accedere regolarmente al proprio account</a:t>
                      </a:r>
                    </a:p>
                  </a:txBody>
                  <a:tcPr marL="47647" marR="47647" marT="23824" marB="238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1291583"/>
                  </a:ext>
                </a:extLst>
              </a:tr>
            </a:tbl>
          </a:graphicData>
        </a:graphic>
      </p:graphicFrame>
    </p:spTree>
    <p:extLst>
      <p:ext uri="{BB962C8B-B14F-4D97-AF65-F5344CB8AC3E}">
        <p14:creationId xmlns:p14="http://schemas.microsoft.com/office/powerpoint/2010/main" val="2747425429"/>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016E0-571C-598A-5B8D-B76F78AC7AD2}"/>
              </a:ext>
            </a:extLst>
          </p:cNvPr>
          <p:cNvSpPr>
            <a:spLocks noGrp="1"/>
          </p:cNvSpPr>
          <p:nvPr>
            <p:ph type="title"/>
          </p:nvPr>
        </p:nvSpPr>
        <p:spPr/>
        <p:txBody>
          <a:bodyPr/>
          <a:lstStyle/>
          <a:p>
            <a:r>
              <a:rPr lang="it-IT" dirty="0">
                <a:solidFill>
                  <a:srgbClr val="FF0000"/>
                </a:solidFill>
              </a:rPr>
              <a:t>Funzionalità implementate (elenco)</a:t>
            </a:r>
          </a:p>
        </p:txBody>
      </p:sp>
      <p:sp>
        <p:nvSpPr>
          <p:cNvPr id="4" name="Rectangle 1">
            <a:extLst>
              <a:ext uri="{FF2B5EF4-FFF2-40B4-BE49-F238E27FC236}">
                <a16:creationId xmlns:a16="http://schemas.microsoft.com/office/drawing/2014/main" id="{6EC6D34A-A29C-7156-8915-AA90B0B411CB}"/>
              </a:ext>
            </a:extLst>
          </p:cNvPr>
          <p:cNvSpPr>
            <a:spLocks noGrp="1" noChangeArrowheads="1"/>
          </p:cNvSpPr>
          <p:nvPr>
            <p:ph idx="1"/>
          </p:nvPr>
        </p:nvSpPr>
        <p:spPr bwMode="auto">
          <a:xfrm>
            <a:off x="685801" y="2409876"/>
            <a:ext cx="1013142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it-IT" altLang="it-IT" sz="2400" dirty="0"/>
              <a:t>Registrazione e login utenti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it-IT" altLang="it-IT" sz="2400" dirty="0"/>
              <a:t>Gestione account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it-IT" altLang="it-IT" sz="2400" dirty="0"/>
              <a:t>Visualizzazione catalogo prodotti</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it-IT" altLang="it-IT" sz="2400" dirty="0"/>
              <a:t>Ricerca per prodotti</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it-IT" altLang="it-IT" sz="2400" dirty="0"/>
              <a:t>Aggiunta e rimozione dal carrello</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it-IT" altLang="it-IT" sz="2400" dirty="0"/>
              <a:t>Gestione ordini e storico acquisti</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it-IT" altLang="it-IT" sz="2400" dirty="0"/>
              <a:t>Tracciamento dei ordini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it-IT" altLang="it-IT" sz="2400" dirty="0"/>
              <a:t>Area admin per gestione prodotti, utenti, ordini e servizi (coupon, pacchetti, vetrina, area promo)</a:t>
            </a:r>
          </a:p>
        </p:txBody>
      </p:sp>
    </p:spTree>
    <p:extLst>
      <p:ext uri="{BB962C8B-B14F-4D97-AF65-F5344CB8AC3E}">
        <p14:creationId xmlns:p14="http://schemas.microsoft.com/office/powerpoint/2010/main" val="1399419425"/>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4AB8E-9A77-C13C-5B5A-B01447351D52}"/>
              </a:ext>
            </a:extLst>
          </p:cNvPr>
          <p:cNvSpPr>
            <a:spLocks noGrp="1"/>
          </p:cNvSpPr>
          <p:nvPr>
            <p:ph type="title"/>
          </p:nvPr>
        </p:nvSpPr>
        <p:spPr>
          <a:xfrm>
            <a:off x="620487" y="157929"/>
            <a:ext cx="10131425" cy="1456267"/>
          </a:xfrm>
        </p:spPr>
        <p:txBody>
          <a:bodyPr/>
          <a:lstStyle/>
          <a:p>
            <a:r>
              <a:rPr lang="it-IT" dirty="0">
                <a:solidFill>
                  <a:srgbClr val="FF0000"/>
                </a:solidFill>
              </a:rPr>
              <a:t>Dettaglio di una funzionalità</a:t>
            </a:r>
          </a:p>
        </p:txBody>
      </p:sp>
      <p:sp>
        <p:nvSpPr>
          <p:cNvPr id="3" name="Content Placeholder 2">
            <a:extLst>
              <a:ext uri="{FF2B5EF4-FFF2-40B4-BE49-F238E27FC236}">
                <a16:creationId xmlns:a16="http://schemas.microsoft.com/office/drawing/2014/main" id="{5BF69378-F1B3-3F89-1409-F2696EC54F61}"/>
              </a:ext>
            </a:extLst>
          </p:cNvPr>
          <p:cNvSpPr>
            <a:spLocks noGrp="1"/>
          </p:cNvSpPr>
          <p:nvPr>
            <p:ph idx="1"/>
          </p:nvPr>
        </p:nvSpPr>
        <p:spPr>
          <a:xfrm>
            <a:off x="685801" y="1614196"/>
            <a:ext cx="10986795" cy="5243803"/>
          </a:xfrm>
        </p:spPr>
        <p:txBody>
          <a:bodyPr>
            <a:normAutofit fontScale="70000" lnSpcReduction="20000"/>
          </a:bodyPr>
          <a:lstStyle/>
          <a:p>
            <a:pPr marL="0" indent="0">
              <a:buNone/>
            </a:pPr>
            <a:r>
              <a:rPr lang="it-IT" sz="3200" u="sng" dirty="0"/>
              <a:t>Gestione carrello</a:t>
            </a:r>
          </a:p>
          <a:p>
            <a:r>
              <a:rPr lang="it-IT" sz="3200" dirty="0"/>
              <a:t>Il modulo di gestione del carrello si occupa di consentire all’utente di selezionare e gestire i prodotti che desidera acquistare. L’utente può aggiungere nuovi prodotti al carrello, modificare le quantità di quelli già presenti oppure rimuoverli completamente. Ogni operazione eseguita sul carrello viene gestita in tempo reale attraverso </a:t>
            </a:r>
            <a:r>
              <a:rPr lang="it-IT" sz="3200" b="1" dirty="0"/>
              <a:t>API REST</a:t>
            </a:r>
            <a:r>
              <a:rPr lang="it-IT" sz="3200" dirty="0"/>
              <a:t> sviluppate in </a:t>
            </a:r>
            <a:r>
              <a:rPr lang="it-IT" sz="3200" b="1" dirty="0"/>
              <a:t>Spring Boot</a:t>
            </a:r>
            <a:r>
              <a:rPr lang="it-IT" sz="3200" dirty="0"/>
              <a:t>, che si occupano di elaborare le richieste e aggiornare lo stato del carrello sul server.</a:t>
            </a:r>
          </a:p>
          <a:p>
            <a:r>
              <a:rPr lang="it-IT" sz="3200" dirty="0"/>
              <a:t>Il </a:t>
            </a:r>
            <a:r>
              <a:rPr lang="it-IT" sz="3200" b="1" dirty="0"/>
              <a:t>front-end</a:t>
            </a:r>
            <a:r>
              <a:rPr lang="it-IT" sz="3200" dirty="0"/>
              <a:t>, realizzato in </a:t>
            </a:r>
            <a:r>
              <a:rPr lang="it-IT" sz="3200" b="1" dirty="0"/>
              <a:t>Angular</a:t>
            </a:r>
            <a:r>
              <a:rPr lang="it-IT" sz="3200" dirty="0"/>
              <a:t>, è costantemente sincronizzato con il back-end grazie a chiamate HTTP asincrone, garantendo un’esperienza utente fluida e reattiva: ogni variazione nel contenuto del carrello viene immediatamente riflessa sull’interfaccia grafica, senza bisogno di ricaricare la pagina.</a:t>
            </a:r>
          </a:p>
          <a:p>
            <a:r>
              <a:rPr lang="it-IT" sz="3200" dirty="0"/>
              <a:t>Durante la fase di </a:t>
            </a:r>
            <a:r>
              <a:rPr lang="it-IT" sz="3200" b="1" dirty="0"/>
              <a:t>checkout</a:t>
            </a:r>
            <a:r>
              <a:rPr lang="it-IT" sz="3200" dirty="0"/>
              <a:t>, i dati del carrello – inclusi i prodotti selezionati, le quantità, i prezzi e le informazioni sull’utente – vengono validati e quindi salvati in modo persistente all’interno del database </a:t>
            </a:r>
            <a:r>
              <a:rPr lang="it-IT" sz="3200" b="1" dirty="0"/>
              <a:t>PostgreSQL</a:t>
            </a:r>
            <a:r>
              <a:rPr lang="it-IT" sz="3200" dirty="0"/>
              <a:t>. Questa operazione assicura la tracciabilità dell’ordine e consente al sistema di proseguire con le fasi successive del processo di acquisto, come la gestione del pagamento o la generazione della conferma d’ordine.</a:t>
            </a:r>
          </a:p>
          <a:p>
            <a:pPr marL="0" indent="0">
              <a:buNone/>
            </a:pPr>
            <a:endParaRPr lang="it-IT" sz="3200" u="sng" dirty="0"/>
          </a:p>
        </p:txBody>
      </p:sp>
    </p:spTree>
    <p:extLst>
      <p:ext uri="{BB962C8B-B14F-4D97-AF65-F5344CB8AC3E}">
        <p14:creationId xmlns:p14="http://schemas.microsoft.com/office/powerpoint/2010/main" val="2336552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C9DEE-2638-61E2-C2E4-522F87E4C0BD}"/>
              </a:ext>
            </a:extLst>
          </p:cNvPr>
          <p:cNvSpPr>
            <a:spLocks noGrp="1"/>
          </p:cNvSpPr>
          <p:nvPr>
            <p:ph type="title"/>
          </p:nvPr>
        </p:nvSpPr>
        <p:spPr/>
        <p:txBody>
          <a:bodyPr/>
          <a:lstStyle/>
          <a:p>
            <a:r>
              <a:rPr lang="it-IT" dirty="0">
                <a:solidFill>
                  <a:srgbClr val="FF0000"/>
                </a:solidFill>
              </a:rPr>
              <a:t>Feedback della vostra esperienza</a:t>
            </a:r>
          </a:p>
        </p:txBody>
      </p:sp>
      <p:sp>
        <p:nvSpPr>
          <p:cNvPr id="3" name="Content Placeholder 2">
            <a:extLst>
              <a:ext uri="{FF2B5EF4-FFF2-40B4-BE49-F238E27FC236}">
                <a16:creationId xmlns:a16="http://schemas.microsoft.com/office/drawing/2014/main" id="{2776C445-58E0-D1D3-CBE2-D85E0BDC62DB}"/>
              </a:ext>
            </a:extLst>
          </p:cNvPr>
          <p:cNvSpPr>
            <a:spLocks noGrp="1"/>
          </p:cNvSpPr>
          <p:nvPr>
            <p:ph idx="1"/>
          </p:nvPr>
        </p:nvSpPr>
        <p:spPr>
          <a:xfrm>
            <a:off x="685801" y="2142067"/>
            <a:ext cx="10804792" cy="3649133"/>
          </a:xfrm>
        </p:spPr>
        <p:txBody>
          <a:bodyPr/>
          <a:lstStyle/>
          <a:p>
            <a:pPr marL="0" indent="0">
              <a:buNone/>
            </a:pPr>
            <a:r>
              <a:rPr lang="it-IT" sz="2400" dirty="0"/>
              <a:t>Il progetto ci ha permesso di applicare in modo pratico i concetti di ingegneria del software.</a:t>
            </a:r>
            <a:br>
              <a:rPr lang="it-IT" sz="2400" dirty="0"/>
            </a:br>
            <a:r>
              <a:rPr lang="it-IT" sz="2400" dirty="0"/>
              <a:t>Abbiamo migliorato la collaborazione in team, la gestione dei tempi e la conoscenza delle tecnologie moderne.</a:t>
            </a:r>
            <a:br>
              <a:rPr lang="it-IT" sz="2400" dirty="0"/>
            </a:br>
            <a:r>
              <a:rPr lang="it-IT" sz="2400" dirty="0"/>
              <a:t>Le principali difficoltà sono state la configurazione del backend e l’integrazione con il frontend, ma il risultato finale è stato molto soddisfacente.</a:t>
            </a:r>
          </a:p>
        </p:txBody>
      </p:sp>
    </p:spTree>
    <p:extLst>
      <p:ext uri="{BB962C8B-B14F-4D97-AF65-F5344CB8AC3E}">
        <p14:creationId xmlns:p14="http://schemas.microsoft.com/office/powerpoint/2010/main" val="15682689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Override1.xml><?xml version="1.0" encoding="utf-8"?>
<a:themeOverride xmlns:a="http://schemas.openxmlformats.org/drawingml/2006/main">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e914a06-6824-411a-ac86-82b02fa8b5e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384A12D8080C084885BC031992C86AE8" ma:contentTypeVersion="6" ma:contentTypeDescription="Creare un nuovo documento." ma:contentTypeScope="" ma:versionID="337a485c1365c0815feaca7e81352dac">
  <xsd:schema xmlns:xsd="http://www.w3.org/2001/XMLSchema" xmlns:xs="http://www.w3.org/2001/XMLSchema" xmlns:p="http://schemas.microsoft.com/office/2006/metadata/properties" xmlns:ns3="ae914a06-6824-411a-ac86-82b02fa8b5e0" targetNamespace="http://schemas.microsoft.com/office/2006/metadata/properties" ma:root="true" ma:fieldsID="e068339714c4e3961cf848626d0c60ab" ns3:_="">
    <xsd:import namespace="ae914a06-6824-411a-ac86-82b02fa8b5e0"/>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914a06-6824-411a-ac86-82b02fa8b5e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268E807-C340-4F04-97B2-E70EECFED786}">
  <ds:schemaRefs>
    <ds:schemaRef ds:uri="http://purl.org/dc/terms/"/>
    <ds:schemaRef ds:uri="http://schemas.microsoft.com/office/2006/documentManagement/types"/>
    <ds:schemaRef ds:uri="http://purl.org/dc/elements/1.1/"/>
    <ds:schemaRef ds:uri="http://purl.org/dc/dcmitype/"/>
    <ds:schemaRef ds:uri="http://schemas.microsoft.com/office/infopath/2007/PartnerControls"/>
    <ds:schemaRef ds:uri="http://schemas.openxmlformats.org/package/2006/metadata/core-properties"/>
    <ds:schemaRef ds:uri="ae914a06-6824-411a-ac86-82b02fa8b5e0"/>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1B19ABEC-24F8-490D-9E98-42D5E11337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914a06-6824-411a-ac86-82b02fa8b5e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7D6F146-FC8F-4A9D-8ED0-BEDC31CCC62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532</TotalTime>
  <Words>763</Words>
  <Application>Microsoft Macintosh PowerPoint</Application>
  <PresentationFormat>Widescreen</PresentationFormat>
  <Paragraphs>68</Paragraphs>
  <Slides>9</Slides>
  <Notes>0</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9</vt:i4>
      </vt:variant>
    </vt:vector>
  </HeadingPairs>
  <TitlesOfParts>
    <vt:vector size="15" baseType="lpstr">
      <vt:lpstr>Arial</vt:lpstr>
      <vt:lpstr>Calibri</vt:lpstr>
      <vt:lpstr>Calibri Light</vt:lpstr>
      <vt:lpstr>Google Sans</vt:lpstr>
      <vt:lpstr>Wingdings</vt:lpstr>
      <vt:lpstr>Celestial</vt:lpstr>
      <vt:lpstr>Real Tech Progetto per il corso di Ingegneria del Software</vt:lpstr>
      <vt:lpstr>Oggetto del progetto</vt:lpstr>
      <vt:lpstr>GANTT</vt:lpstr>
      <vt:lpstr>Distribuzione del team (ruoli)</vt:lpstr>
      <vt:lpstr>Screenshot di Trello</vt:lpstr>
      <vt:lpstr>Test cases (esempio)</vt:lpstr>
      <vt:lpstr>Funzionalità implementate (elenco)</vt:lpstr>
      <vt:lpstr>Dettaglio di una funzionalità</vt:lpstr>
      <vt:lpstr>Feedback della vostra esperienza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Imran Waheed</dc:creator>
  <cp:lastModifiedBy>ABDOUH OSAMA</cp:lastModifiedBy>
  <cp:revision>8</cp:revision>
  <dcterms:created xsi:type="dcterms:W3CDTF">2025-11-04T17:29:46Z</dcterms:created>
  <dcterms:modified xsi:type="dcterms:W3CDTF">2025-11-19T14:10:01Z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0x010100384A12D8080C084885BC031992C86AE8</vt:lpwstr>
  </property>
</Properties>
</file>